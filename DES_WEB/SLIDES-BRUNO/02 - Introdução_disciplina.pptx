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media/image1.jpeg" ContentType="image/jpeg"/>
  <Override PartName="/ppt/media/image2.wmf" ContentType="image/x-wmf"/>
  <Override PartName="/ppt/media/image3.jpeg" ContentType="image/jpeg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</a:rPr>
              <a:t>Clique para mover o slide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pt-BR" sz="2000" spc="-1" strike="noStrike">
                <a:latin typeface="Arial"/>
              </a:rPr>
              <a:t>Clique para editar o formato de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9D89F7F2-3507-4755-98DF-6380763D4D78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155" name="Espaço Reservado para Número de Slide 3"/>
          <p:cNvSpPr/>
          <p:nvPr/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00B05C46-0CD8-4415-AC0C-4126F249325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traight Connector 9"/>
          <p:cNvSpPr/>
          <p:nvPr/>
        </p:nvSpPr>
        <p:spPr>
          <a:xfrm>
            <a:off x="666360" y="1028520"/>
            <a:ext cx="10947240" cy="360"/>
          </a:xfrm>
          <a:prstGeom prst="line">
            <a:avLst/>
          </a:prstGeom>
          <a:ln w="6350">
            <a:solidFill>
              <a:srgbClr val="80808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traight Connector 9"/>
          <p:cNvSpPr/>
          <p:nvPr/>
        </p:nvSpPr>
        <p:spPr>
          <a:xfrm>
            <a:off x="666360" y="1028520"/>
            <a:ext cx="10947240" cy="360"/>
          </a:xfrm>
          <a:prstGeom prst="line">
            <a:avLst/>
          </a:prstGeom>
          <a:ln w="6350">
            <a:solidFill>
              <a:srgbClr val="80808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traight Connector 9"/>
          <p:cNvSpPr/>
          <p:nvPr/>
        </p:nvSpPr>
        <p:spPr>
          <a:xfrm>
            <a:off x="666360" y="1028520"/>
            <a:ext cx="10947240" cy="360"/>
          </a:xfrm>
          <a:prstGeom prst="line">
            <a:avLst/>
          </a:prstGeom>
          <a:ln w="6350">
            <a:solidFill>
              <a:srgbClr val="80808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Rectangle 7"/>
          <p:cNvSpPr/>
          <p:nvPr/>
        </p:nvSpPr>
        <p:spPr>
          <a:xfrm>
            <a:off x="0" y="4952880"/>
            <a:ext cx="12186720" cy="1902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" name="Rectangle 8"/>
          <p:cNvSpPr/>
          <p:nvPr/>
        </p:nvSpPr>
        <p:spPr>
          <a:xfrm>
            <a:off x="0" y="4915080"/>
            <a:ext cx="12186720" cy="61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alphaModFix amt="9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tângulo 9"/>
          <p:cNvSpPr/>
          <p:nvPr/>
        </p:nvSpPr>
        <p:spPr>
          <a:xfrm>
            <a:off x="0" y="0"/>
            <a:ext cx="12189960" cy="6855840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solidFill>
              <a:srgbClr val="a860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6" name="Title 1"/>
          <p:cNvSpPr/>
          <p:nvPr/>
        </p:nvSpPr>
        <p:spPr>
          <a:xfrm>
            <a:off x="1097280" y="1512720"/>
            <a:ext cx="10056240" cy="34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85000"/>
              </a:lnSpc>
            </a:pPr>
            <a:r>
              <a:rPr b="1" lang="pt-BR" sz="8800" spc="-52" strike="noStrike">
                <a:solidFill>
                  <a:srgbClr val="ffffff"/>
                </a:solidFill>
                <a:latin typeface="Calibri Light"/>
                <a:ea typeface="DejaVu Sans"/>
              </a:rPr>
              <a:t>Desenvolvimento de Software para Web</a:t>
            </a:r>
            <a:endParaRPr b="0" lang="pt-BR" sz="8800" spc="-1" strike="noStrike">
              <a:latin typeface="Arial"/>
            </a:endParaRPr>
          </a:p>
        </p:txBody>
      </p:sp>
      <p:sp>
        <p:nvSpPr>
          <p:cNvPr id="127" name="Subtitle 2"/>
          <p:cNvSpPr/>
          <p:nvPr/>
        </p:nvSpPr>
        <p:spPr>
          <a:xfrm>
            <a:off x="1013400" y="5809320"/>
            <a:ext cx="10056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r>
              <a:rPr b="1" lang="en-US" sz="3600" spc="185" strike="noStrike">
                <a:solidFill>
                  <a:srgbClr val="ffffff"/>
                </a:solidFill>
                <a:latin typeface="Calibri Light"/>
                <a:ea typeface="DejaVu Sans"/>
              </a:rPr>
              <a:t>Prof. Jefferson de Carvalho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28" name="Straight Connector 8"/>
          <p:cNvSpPr/>
          <p:nvPr/>
        </p:nvSpPr>
        <p:spPr>
          <a:xfrm flipV="1">
            <a:off x="1013400" y="5340960"/>
            <a:ext cx="10058400" cy="360"/>
          </a:xfrm>
          <a:prstGeom prst="line">
            <a:avLst/>
          </a:prstGeom>
          <a:ln w="6350">
            <a:solidFill>
              <a:srgbClr val="80808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29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3211200" cy="86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ítulo 1"/>
          <p:cNvSpPr/>
          <p:nvPr/>
        </p:nvSpPr>
        <p:spPr>
          <a:xfrm>
            <a:off x="666720" y="226800"/>
            <a:ext cx="1094508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000000"/>
                </a:solidFill>
                <a:latin typeface="Calibri Light"/>
                <a:ea typeface="DejaVu Sans"/>
              </a:rPr>
              <a:t>Objetivos</a:t>
            </a:r>
            <a:endParaRPr b="0" lang="pt-BR" sz="4800" spc="-1" strike="noStrike">
              <a:latin typeface="Arial"/>
            </a:endParaRPr>
          </a:p>
        </p:txBody>
      </p:sp>
      <p:sp>
        <p:nvSpPr>
          <p:cNvPr id="131" name="Espaço Reservado para Conteúdo 2"/>
          <p:cNvSpPr/>
          <p:nvPr/>
        </p:nvSpPr>
        <p:spPr>
          <a:xfrm>
            <a:off x="666720" y="1262520"/>
            <a:ext cx="10945080" cy="52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>
            <a:noAutofit/>
          </a:bodyPr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Objetivos Gerais</a:t>
            </a:r>
            <a:endParaRPr b="0" lang="pt-BR" sz="28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Entender como usar scripts e linguagens de marcação para construir interfaces dinâmicas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Como usar a IA de forma eficiente na construção de páginas dinâmicas</a:t>
            </a:r>
            <a:endParaRPr b="0" lang="pt-BR" sz="24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Objetivos específicos:</a:t>
            </a:r>
            <a:endParaRPr b="0" lang="pt-BR" sz="28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Conhecer e aplicar conceitos de HTML e CSS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Conhecer e aplicar conceitos de HTML5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Conhecer e aplicar conceitos de Javascript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Conhecer e aplicar conceitos de JSON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Aplica IA onde for necessário e ENTENDER o quê está sendo gerado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ítulo 1"/>
          <p:cNvSpPr/>
          <p:nvPr/>
        </p:nvSpPr>
        <p:spPr>
          <a:xfrm>
            <a:off x="666720" y="226800"/>
            <a:ext cx="1094508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85000"/>
              </a:lnSpc>
            </a:pPr>
            <a:r>
              <a:rPr b="1" lang="en-US" sz="4800" spc="-52" strike="noStrike">
                <a:solidFill>
                  <a:srgbClr val="000000"/>
                </a:solidFill>
                <a:latin typeface="Calibri Light"/>
                <a:ea typeface="DejaVu Sans"/>
              </a:rPr>
              <a:t>Conteúdo Programático</a:t>
            </a:r>
            <a:endParaRPr b="0" lang="pt-BR" sz="4800" spc="-1" strike="noStrike">
              <a:latin typeface="Arial"/>
            </a:endParaRPr>
          </a:p>
        </p:txBody>
      </p:sp>
      <p:sp>
        <p:nvSpPr>
          <p:cNvPr id="133" name="Espaço Reservado para Conteúdo 2"/>
          <p:cNvSpPr/>
          <p:nvPr/>
        </p:nvSpPr>
        <p:spPr>
          <a:xfrm>
            <a:off x="666720" y="1262520"/>
            <a:ext cx="10945080" cy="52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>
            <a:normAutofit/>
          </a:bodyPr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HTML</a:t>
            </a:r>
            <a:endParaRPr b="0" lang="pt-BR" sz="28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Tags, atributos, elementos semânticos...</a:t>
            </a:r>
            <a:endParaRPr b="0" lang="pt-BR" sz="24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CSS</a:t>
            </a:r>
            <a:endParaRPr b="0" lang="pt-BR" sz="28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Seletores, cores, fundos, bordas...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Layouts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Componentes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Bibliotecas CSS </a:t>
            </a:r>
            <a:endParaRPr b="0" lang="pt-BR" sz="24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JavaScript</a:t>
            </a:r>
            <a:endParaRPr b="0" lang="pt-BR" sz="28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HTML DOM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JSON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Express + MongoDB</a:t>
            </a:r>
            <a:endParaRPr b="0" lang="pt-BR" sz="2400" spc="-1" strike="noStrike">
              <a:latin typeface="Arial"/>
            </a:endParaRPr>
          </a:p>
        </p:txBody>
      </p:sp>
      <p:pic>
        <p:nvPicPr>
          <p:cNvPr id="134" name="Imagem 3" descr=""/>
          <p:cNvPicPr/>
          <p:nvPr/>
        </p:nvPicPr>
        <p:blipFill>
          <a:blip r:embed="rId1"/>
          <a:stretch/>
        </p:blipFill>
        <p:spPr>
          <a:xfrm>
            <a:off x="7620120" y="0"/>
            <a:ext cx="4569840" cy="685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ítulo 1"/>
          <p:cNvSpPr/>
          <p:nvPr/>
        </p:nvSpPr>
        <p:spPr>
          <a:xfrm>
            <a:off x="666720" y="226800"/>
            <a:ext cx="1094508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000000"/>
                </a:solidFill>
                <a:latin typeface="Calibri Light"/>
                <a:ea typeface="DejaVu Sans"/>
              </a:rPr>
              <a:t>Ferramentas</a:t>
            </a:r>
            <a:endParaRPr b="0" lang="pt-BR" sz="4800" spc="-1" strike="noStrike">
              <a:latin typeface="Arial"/>
            </a:endParaRPr>
          </a:p>
        </p:txBody>
      </p:sp>
      <p:sp>
        <p:nvSpPr>
          <p:cNvPr id="136" name="Espaço Reservado para Conteúdo 2"/>
          <p:cNvSpPr/>
          <p:nvPr/>
        </p:nvSpPr>
        <p:spPr>
          <a:xfrm>
            <a:off x="460440" y="1148040"/>
            <a:ext cx="11500920" cy="57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>
            <a:normAutofit/>
          </a:bodyPr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Editor de código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: VSCode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Avisos oficiais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: SIGAA      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Referência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: w3schools.com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Códigos: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github/jeffersoncarvalho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Video Aulas: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Youtube (playlist a definir)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Comunicação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: e-mail (</a:t>
            </a:r>
            <a:r>
              <a:rPr b="1" lang="en-US" sz="2800" spc="-1" strike="noStrike" u="sng">
                <a:solidFill>
                  <a:srgbClr val="2998e3"/>
                </a:solidFill>
                <a:uFillTx/>
                <a:latin typeface="Calibri"/>
                <a:ea typeface="DejaVu Sans"/>
              </a:rPr>
              <a:t>jeffersoncarvalho@ufc.br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b="0" lang="pt-BR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endParaRPr b="0" lang="pt-BR" sz="2800" spc="-1" strike="noStrike">
              <a:latin typeface="Arial"/>
            </a:endParaRPr>
          </a:p>
        </p:txBody>
      </p:sp>
      <p:sp>
        <p:nvSpPr>
          <p:cNvPr id="137" name="AutoShape 2"/>
          <p:cNvSpPr/>
          <p:nvPr/>
        </p:nvSpPr>
        <p:spPr>
          <a:xfrm>
            <a:off x="155520" y="-144360"/>
            <a:ext cx="302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AutoShape 10"/>
          <p:cNvSpPr/>
          <p:nvPr/>
        </p:nvSpPr>
        <p:spPr>
          <a:xfrm>
            <a:off x="460440" y="160200"/>
            <a:ext cx="302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ítulo 1"/>
          <p:cNvSpPr/>
          <p:nvPr/>
        </p:nvSpPr>
        <p:spPr>
          <a:xfrm>
            <a:off x="666720" y="226800"/>
            <a:ext cx="1094508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000000"/>
                </a:solidFill>
                <a:latin typeface="Calibri Light"/>
                <a:ea typeface="DejaVu Sans"/>
              </a:rPr>
              <a:t>Avaliação</a:t>
            </a:r>
            <a:endParaRPr b="0" lang="pt-BR" sz="4800" spc="-1" strike="noStrike">
              <a:latin typeface="Arial"/>
            </a:endParaRPr>
          </a:p>
        </p:txBody>
      </p:sp>
      <p:sp>
        <p:nvSpPr>
          <p:cNvPr id="140" name="Espaço Reservado para Conteúdo 2"/>
          <p:cNvSpPr/>
          <p:nvPr/>
        </p:nvSpPr>
        <p:spPr>
          <a:xfrm>
            <a:off x="666720" y="1262520"/>
            <a:ext cx="10945080" cy="52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>
            <a:noAutofit/>
          </a:bodyPr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2 Provas no PAPEL + 4 Trabalhos Parciais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Provas no Papel</a:t>
            </a:r>
            <a:endParaRPr b="0" lang="pt-BR" sz="2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20 questões de marcar (0,5 cada) (NO ENTANTO, POSSO COLOCAR ALGUMA SUBJETIVA E TIRAR AS DE MARCAR)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Trabalhos Parciais</a:t>
            </a:r>
            <a:endParaRPr b="0" lang="pt-BR" sz="2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1 versão sem IA</a:t>
            </a:r>
            <a:endParaRPr b="0" lang="pt-BR" sz="2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1 versão com IA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MÉDIA PARCIAL 1 e 2</a:t>
            </a:r>
            <a:endParaRPr b="0" lang="pt-BR" sz="2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NOTA DA PROVA * 0,8 + 1pt TRABALHO SEM IA + 1pt TRABALHO COM IA</a:t>
            </a:r>
            <a:endParaRPr b="0" lang="pt-BR" sz="2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t-BR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ítulo 1_0"/>
          <p:cNvSpPr/>
          <p:nvPr/>
        </p:nvSpPr>
        <p:spPr>
          <a:xfrm>
            <a:off x="666720" y="226800"/>
            <a:ext cx="1094508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000000"/>
                </a:solidFill>
                <a:latin typeface="Calibri Light"/>
                <a:ea typeface="DejaVu Sans"/>
              </a:rPr>
              <a:t>Avaliação</a:t>
            </a:r>
            <a:endParaRPr b="0" lang="pt-BR" sz="4800" spc="-1" strike="noStrike">
              <a:latin typeface="Arial"/>
            </a:endParaRPr>
          </a:p>
        </p:txBody>
      </p:sp>
      <p:sp>
        <p:nvSpPr>
          <p:cNvPr id="142" name="Espaço Reservado para Conteúdo 2_0"/>
          <p:cNvSpPr/>
          <p:nvPr/>
        </p:nvSpPr>
        <p:spPr>
          <a:xfrm>
            <a:off x="666720" y="1262520"/>
            <a:ext cx="10945080" cy="52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>
            <a:noAutofit/>
          </a:bodyPr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MÉDIA FINAL:</a:t>
            </a:r>
            <a:endParaRPr b="0" lang="pt-BR" sz="1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(NOTA PARCIAL 1 + NOTA PARCIAL 2) / 2</a:t>
            </a:r>
            <a:endParaRPr b="0" lang="pt-BR" sz="1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SE MÉDIA FINAL &gt;= 7, APROVADO</a:t>
            </a:r>
            <a:endParaRPr b="0" lang="pt-BR" sz="1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SE MÉDIA FINAL &lt; 4, REPROVADO</a:t>
            </a:r>
            <a:endParaRPr b="0" lang="pt-BR" sz="1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CASOS CONTRÁRIOS, RECUPERAÇÃO (PROVA FINAL – 20 QUESTÕES DE MARCAR)</a:t>
            </a:r>
            <a:endParaRPr b="0" lang="pt-BR" sz="1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ATENÇÃO</a:t>
            </a:r>
            <a:endParaRPr b="0" lang="pt-BR" sz="1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OS TRABALHOS PARCIAIS SÃO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OBRIGATÓRIOS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. “ESCOLHER” NÃO FAZER O TRABALHO FINAL ZERA A NOTA DAS PROVAS.</a:t>
            </a:r>
            <a:endParaRPr b="0" lang="pt-BR" sz="1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AS EQUIPES DOS TRABALHOS DEVEM TER NO MÁXIMO 3 ALUNOS.</a:t>
            </a:r>
            <a:endParaRPr b="0" lang="pt-BR" sz="1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NOS TRABALHOS COM IA, A EQUIPE DEVE “ENTENDER” O CÓDIGO GERADO. APENAS COPIAR E COLAR O CÓDIGO, ZERA A NOTA DO TRABALHO E DA PROVA.</a:t>
            </a:r>
            <a:endParaRPr b="0" lang="pt-BR" sz="1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"/>
          <p:cNvSpPr/>
          <p:nvPr/>
        </p:nvSpPr>
        <p:spPr>
          <a:xfrm>
            <a:off x="666720" y="226800"/>
            <a:ext cx="1094508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85000"/>
              </a:lnSpc>
            </a:pPr>
            <a:r>
              <a:rPr b="0" lang="pt-BR" sz="4800" spc="-52" strike="noStrike">
                <a:solidFill>
                  <a:srgbClr val="000000"/>
                </a:solidFill>
                <a:latin typeface="Calibri Light"/>
                <a:ea typeface="DejaVu Sans"/>
              </a:rPr>
              <a:t>Dinâmica Atividades</a:t>
            </a:r>
            <a:endParaRPr b="0" lang="pt-BR" sz="4800" spc="-1" strike="noStrike">
              <a:latin typeface="Arial"/>
            </a:endParaRPr>
          </a:p>
        </p:txBody>
      </p:sp>
      <p:sp>
        <p:nvSpPr>
          <p:cNvPr id="144" name="Content Placeholder 2"/>
          <p:cNvSpPr/>
          <p:nvPr/>
        </p:nvSpPr>
        <p:spPr>
          <a:xfrm>
            <a:off x="666720" y="1262520"/>
            <a:ext cx="10945080" cy="52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>
            <a:normAutofit/>
          </a:bodyPr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As atividades são feitas em sala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Teremos atividade em sala na maioria das aulas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 perder alguma atividade, é melhor fazer a atividade perdida (mesmo   que não valha nada) para treinar a matéria anterior</a:t>
            </a:r>
            <a:endParaRPr b="0" lang="pt-BR" sz="28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É difícil fazer uma atividade sem fazer as anteriores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 conhecimento em programação é uma escada</a:t>
            </a:r>
            <a:endParaRPr b="0" lang="pt-BR" sz="24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Feedback das atividades é em sala</a:t>
            </a:r>
            <a:endParaRPr b="0" lang="pt-BR" sz="28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Individualmente, por demanda de vocês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Para todos, por correção da atividade em sala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</a:pP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1"/>
          <p:cNvSpPr/>
          <p:nvPr/>
        </p:nvSpPr>
        <p:spPr>
          <a:xfrm>
            <a:off x="666720" y="226800"/>
            <a:ext cx="1094508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85000"/>
              </a:lnSpc>
            </a:pPr>
            <a:r>
              <a:rPr b="0" lang="pt-BR" sz="4800" spc="-52" strike="noStrike">
                <a:solidFill>
                  <a:srgbClr val="000000"/>
                </a:solidFill>
                <a:latin typeface="Calibri Light"/>
                <a:ea typeface="DejaVu Sans"/>
              </a:rPr>
              <a:t>Observações importante!</a:t>
            </a:r>
            <a:endParaRPr b="0" lang="pt-BR" sz="4800" spc="-1" strike="noStrike">
              <a:latin typeface="Arial"/>
            </a:endParaRPr>
          </a:p>
        </p:txBody>
      </p:sp>
      <p:sp>
        <p:nvSpPr>
          <p:cNvPr id="146" name="Content Placeholder 2"/>
          <p:cNvSpPr/>
          <p:nvPr/>
        </p:nvSpPr>
        <p:spPr>
          <a:xfrm>
            <a:off x="666720" y="1262520"/>
            <a:ext cx="10945080" cy="52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>
            <a:noAutofit/>
          </a:bodyPr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Autonomia</a:t>
            </a: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Atividades são individuais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Monitores e amigos podem ajudar pontualmente</a:t>
            </a:r>
            <a:endParaRPr b="0" lang="pt-BR" sz="28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Mas é necessário haver uma autonomia em fazer os trabalhos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Cuidado para não usar seus monitores como muletas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Trabalhos ficam super parecidos (quase cópia)</a:t>
            </a:r>
            <a:endParaRPr b="0" lang="pt-BR" sz="24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É preciso </a:t>
            </a: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independência</a:t>
            </a: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! Afinal, a prova é individual</a:t>
            </a:r>
            <a:endParaRPr b="0" lang="pt-BR" sz="2800" spc="-1" strike="noStrike">
              <a:latin typeface="Arial"/>
            </a:endParaRPr>
          </a:p>
          <a:p>
            <a:pPr marL="2012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tabLst>
                <a:tab algn="l" pos="0"/>
              </a:tabLst>
            </a:pPr>
            <a:endParaRPr b="0" lang="pt-BR" sz="2800" spc="-1" strike="noStrike">
              <a:latin typeface="Arial"/>
            </a:endParaRPr>
          </a:p>
          <a:p>
            <a:pPr marL="201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endParaRPr b="0" lang="pt-BR" sz="2800" spc="-1" strike="noStrike">
              <a:latin typeface="Arial"/>
            </a:endParaRPr>
          </a:p>
          <a:p>
            <a:pPr marL="2012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tabLst>
                <a:tab algn="l" pos="0"/>
              </a:tabLst>
            </a:pPr>
            <a:endParaRPr b="0" lang="pt-BR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ítulo 1"/>
          <p:cNvSpPr/>
          <p:nvPr/>
        </p:nvSpPr>
        <p:spPr>
          <a:xfrm>
            <a:off x="666720" y="226800"/>
            <a:ext cx="1094508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000000"/>
                </a:solidFill>
                <a:latin typeface="Calibri Light"/>
                <a:ea typeface="DejaVu Sans"/>
              </a:rPr>
              <a:t>Erros</a:t>
            </a:r>
            <a:endParaRPr b="0" lang="pt-BR" sz="4800" spc="-1" strike="noStrike">
              <a:latin typeface="Arial"/>
            </a:endParaRPr>
          </a:p>
        </p:txBody>
      </p:sp>
      <p:sp>
        <p:nvSpPr>
          <p:cNvPr id="148" name="Espaço Reservado para Conteúdo 2"/>
          <p:cNvSpPr/>
          <p:nvPr/>
        </p:nvSpPr>
        <p:spPr>
          <a:xfrm>
            <a:off x="666720" y="1262520"/>
            <a:ext cx="10945080" cy="52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>
            <a:normAutofit/>
          </a:bodyPr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Erros fazem parte do aprendizado!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É preciso saber resolver os erros sozinho.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Melhor processo de aprendizado: entender o erro e tentar consertar. Se não conseguir, pede ajuda.</a:t>
            </a:r>
            <a:endParaRPr b="0" lang="pt-BR" sz="28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Erro comum: Mudar o código na tentativa/erro sem entender o que está acontecendo</a:t>
            </a:r>
            <a:endParaRPr b="0" lang="pt-BR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ítulo 1"/>
          <p:cNvSpPr/>
          <p:nvPr/>
        </p:nvSpPr>
        <p:spPr>
          <a:xfrm>
            <a:off x="666720" y="226800"/>
            <a:ext cx="1094508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000000"/>
                </a:solidFill>
                <a:latin typeface="Calibri Light"/>
                <a:ea typeface="DejaVu Sans"/>
              </a:rPr>
              <a:t>Processo de resolução de erros</a:t>
            </a:r>
            <a:endParaRPr b="0" lang="pt-BR" sz="4800" spc="-1" strike="noStrike">
              <a:latin typeface="Arial"/>
            </a:endParaRPr>
          </a:p>
        </p:txBody>
      </p:sp>
      <p:sp>
        <p:nvSpPr>
          <p:cNvPr id="150" name="Espaço Reservado para Conteúdo 2"/>
          <p:cNvSpPr/>
          <p:nvPr/>
        </p:nvSpPr>
        <p:spPr>
          <a:xfrm>
            <a:off x="666720" y="1262520"/>
            <a:ext cx="10945080" cy="52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>
            <a:noAutofit/>
          </a:bodyPr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 que fazer?</a:t>
            </a:r>
            <a:endParaRPr b="0" lang="pt-BR" sz="28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Ler mensagem de erro com calma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Traduzir para português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Tentar entender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Olhar o inspetor do navegador: verificar onde estão os elementos, se as regras css funcionaram…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console.log é seu melhor amigo! Imprimir variáveis na tela seguindo o fluxo da execução</a:t>
            </a:r>
            <a:endParaRPr b="0" lang="pt-BR" sz="2400" spc="-1" strike="noStrike">
              <a:latin typeface="Arial"/>
            </a:endParaRPr>
          </a:p>
          <a:p>
            <a:pPr marL="91440" indent="-2822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 não conseguir</a:t>
            </a:r>
            <a:endParaRPr b="0" lang="pt-BR" sz="28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Olhar no google/IA</a:t>
            </a:r>
            <a:endParaRPr b="0" lang="pt-BR" sz="2400" spc="-1" strike="noStrike">
              <a:latin typeface="Arial"/>
            </a:endParaRPr>
          </a:p>
          <a:p>
            <a:pPr lvl="1" marL="487080" indent="-2836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Falar com o professor/monitor/amigo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</a:pP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ítulo 7"/>
          <p:cNvSpPr/>
          <p:nvPr/>
        </p:nvSpPr>
        <p:spPr>
          <a:xfrm>
            <a:off x="717120" y="5326920"/>
            <a:ext cx="10110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>
            <a:noAutofit/>
          </a:bodyPr>
          <a:p>
            <a:pPr>
              <a:lnSpc>
                <a:spcPct val="85000"/>
              </a:lnSpc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  <a:ea typeface="DejaVu Sans"/>
              </a:rPr>
              <a:t>Prof. Jefferson de Carvalho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85000"/>
              </a:lnSpc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  <a:ea typeface="DejaVu Sans"/>
              </a:rPr>
              <a:t>Prof. Victor Farias (slides cedidos)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52" name="Google Shape;142;p26"/>
          <p:cNvSpPr/>
          <p:nvPr/>
        </p:nvSpPr>
        <p:spPr>
          <a:xfrm>
            <a:off x="653760" y="701640"/>
            <a:ext cx="7470000" cy="54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85000"/>
              </a:lnSpc>
            </a:pPr>
            <a:r>
              <a:rPr b="1" lang="pt-BR" sz="6000" spc="-52" strike="noStrike">
                <a:solidFill>
                  <a:srgbClr val="000000"/>
                </a:solidFill>
                <a:latin typeface="Calibri Light"/>
                <a:ea typeface="DejaVu Sans"/>
              </a:rPr>
              <a:t>Perguntas?</a:t>
            </a:r>
            <a:endParaRPr b="0" lang="pt-BR" sz="6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8243</TotalTime>
  <Application>LibreOffice/7.1.4.2$Windows_X86_64 LibreOffice_project/a529a4fab45b75fefc5b6226684193eb000654f6</Application>
  <AppVersion>15.0000</AppVersion>
  <Words>462</Words>
  <Paragraphs>82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2020-02-21T04:38:31Z</dcterms:created>
  <dc:creator>Victor Aguiar Evangelista de Farias</dc:creator>
  <dc:description/>
  <dc:language>pt-BR</dc:language>
  <cp:lastModifiedBy/>
  <dcterms:modified xsi:type="dcterms:W3CDTF">2026-03-02T08:34:06Z</dcterms:modified>
  <cp:revision>389</cp:revision>
  <dc:subject/>
  <dc:title>Introdução Aprendizado de Máquina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10</vt:i4>
  </property>
</Properties>
</file>